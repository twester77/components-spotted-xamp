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61" r:id="rId5"/>
    <p:sldId id="263" r:id="rId6"/>
    <p:sldId id="264" r:id="rId7"/>
    <p:sldId id="259" r:id="rId8"/>
    <p:sldId id="265" r:id="rId9"/>
    <p:sldId id="260" r:id="rId10"/>
    <p:sldId id="262" r:id="rId11"/>
    <p:sldId id="26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67F921-C843-4E93-BA4F-59EF2F56F591}" v="348" dt="2026-04-13T14:44:08.434"/>
    <p1510:client id="{FC53AED7-8F82-49CF-B79B-0B8900A0ADF0}" v="289" dt="2026-04-13T16:43:5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74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37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98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406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60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48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4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31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30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66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8550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04088" y="4023657"/>
            <a:ext cx="3794760" cy="211044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500" b="1" dirty="0">
                <a:latin typeface="Arial"/>
                <a:cs typeface="Arial"/>
              </a:rPr>
              <a:t>Portal "A </a:t>
            </a:r>
            <a:r>
              <a:rPr lang="en-US" sz="2500" b="1" dirty="0" err="1">
                <a:latin typeface="Arial"/>
                <a:cs typeface="Arial"/>
              </a:rPr>
              <a:t>Fenda</a:t>
            </a:r>
            <a:r>
              <a:rPr lang="en-US" sz="2500" b="1" dirty="0">
                <a:latin typeface="Arial"/>
                <a:cs typeface="Arial"/>
              </a:rPr>
              <a:t>" - </a:t>
            </a:r>
            <a:r>
              <a:rPr lang="en-US" sz="2500" b="1" dirty="0" err="1">
                <a:latin typeface="Arial"/>
                <a:cs typeface="Arial"/>
              </a:rPr>
              <a:t>Sistema</a:t>
            </a:r>
            <a:r>
              <a:rPr lang="en-US" sz="2500" b="1" dirty="0">
                <a:latin typeface="Arial"/>
                <a:cs typeface="Arial"/>
              </a:rPr>
              <a:t> de </a:t>
            </a:r>
            <a:r>
              <a:rPr lang="en-US" sz="2500" b="1" dirty="0" err="1">
                <a:latin typeface="Arial"/>
                <a:cs typeface="Arial"/>
              </a:rPr>
              <a:t>Interação</a:t>
            </a:r>
            <a:r>
              <a:rPr lang="en-US" sz="2500" b="1" dirty="0">
                <a:latin typeface="Arial"/>
                <a:cs typeface="Arial"/>
              </a:rPr>
              <a:t> </a:t>
            </a:r>
            <a:r>
              <a:rPr lang="en-US" sz="2500" b="1" dirty="0" err="1">
                <a:latin typeface="Arial"/>
                <a:cs typeface="Arial"/>
              </a:rPr>
              <a:t>Acadêmica</a:t>
            </a:r>
            <a:r>
              <a:rPr lang="en-US" sz="2500" b="1" dirty="0">
                <a:latin typeface="Arial"/>
                <a:cs typeface="Arial"/>
              </a:rPr>
              <a:t> e </a:t>
            </a:r>
            <a:r>
              <a:rPr lang="en-US" sz="2500" b="1" dirty="0" err="1">
                <a:latin typeface="Arial"/>
                <a:cs typeface="Arial"/>
              </a:rPr>
              <a:t>Spotted</a:t>
            </a:r>
            <a:r>
              <a:rPr lang="en-US" sz="2500" b="1" dirty="0">
                <a:latin typeface="Arial"/>
                <a:cs typeface="Arial"/>
              </a:rPr>
              <a:t>.</a:t>
            </a:r>
            <a:br>
              <a:rPr lang="en-US" sz="2500" b="1" dirty="0">
                <a:latin typeface="Arial"/>
                <a:cs typeface="Arial"/>
              </a:rPr>
            </a:br>
            <a:endParaRPr lang="en-US" sz="2500" b="1">
              <a:latin typeface="Arial"/>
              <a:cs typeface="Arial"/>
            </a:endParaRPr>
          </a:p>
        </p:txBody>
      </p:sp>
      <p:pic>
        <p:nvPicPr>
          <p:cNvPr id="4" name="Imagem 3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6A6C1308-0913-0D33-88E1-DEA6811BD5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59" r="1" b="1"/>
          <a:stretch>
            <a:fillRect/>
          </a:stretch>
        </p:blipFill>
        <p:spPr>
          <a:xfrm>
            <a:off x="702408" y="473425"/>
            <a:ext cx="10689492" cy="28321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76800" y="4114590"/>
            <a:ext cx="9818" cy="20195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350933" y="3551398"/>
            <a:ext cx="6135924" cy="2924360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Char char="•"/>
            </a:pPr>
            <a:r>
              <a:rPr lang="en-US" sz="2400" b="1" dirty="0" err="1">
                <a:latin typeface="Arial"/>
                <a:cs typeface="Arial"/>
              </a:rPr>
              <a:t>Disciplina</a:t>
            </a:r>
            <a:r>
              <a:rPr lang="en-US" sz="2400" b="1" dirty="0">
                <a:latin typeface="Arial"/>
                <a:cs typeface="Arial"/>
              </a:rPr>
              <a:t>: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Fundamentos</a:t>
            </a:r>
            <a:r>
              <a:rPr lang="en-US" sz="2400" dirty="0">
                <a:latin typeface="Arial"/>
                <a:cs typeface="Arial"/>
              </a:rPr>
              <a:t> e </a:t>
            </a:r>
            <a:r>
              <a:rPr lang="en-US" sz="2400" dirty="0" err="1">
                <a:latin typeface="Arial"/>
                <a:cs typeface="Arial"/>
              </a:rPr>
              <a:t>Evolução</a:t>
            </a:r>
            <a:r>
              <a:rPr lang="en-US" sz="2400" dirty="0">
                <a:latin typeface="Arial"/>
                <a:cs typeface="Arial"/>
              </a:rPr>
              <a:t> da </a:t>
            </a:r>
            <a:r>
              <a:rPr lang="en-US" sz="2400" dirty="0" err="1">
                <a:latin typeface="Arial"/>
                <a:cs typeface="Arial"/>
              </a:rPr>
              <a:t>Computação</a:t>
            </a:r>
            <a:r>
              <a:rPr lang="en-US" sz="2400" dirty="0">
                <a:latin typeface="Arial"/>
                <a:cs typeface="Arial"/>
              </a:rPr>
              <a:t> / </a:t>
            </a:r>
            <a:r>
              <a:rPr lang="en-US" sz="2400" dirty="0" err="1">
                <a:latin typeface="Arial"/>
                <a:cs typeface="Arial"/>
              </a:rPr>
              <a:t>Desenvolvimento</a:t>
            </a:r>
            <a:r>
              <a:rPr lang="en-US" sz="2400" dirty="0">
                <a:latin typeface="Arial"/>
                <a:cs typeface="Arial"/>
              </a:rPr>
              <a:t> Web.</a:t>
            </a:r>
            <a:endParaRPr lang="pt-BR" sz="2400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400" b="1">
                <a:latin typeface="Arial"/>
                <a:cs typeface="Arial"/>
              </a:rPr>
              <a:t>Nome:</a:t>
            </a:r>
            <a:r>
              <a:rPr lang="en-US" sz="2400">
                <a:latin typeface="Arial"/>
                <a:cs typeface="Arial"/>
              </a:rPr>
              <a:t> Leonardo Rodrigues.</a:t>
            </a:r>
            <a:endParaRPr lang="en-US" sz="2400" dirty="0">
              <a:latin typeface="Arial"/>
              <a:cs typeface="Arial"/>
            </a:endParaRPr>
          </a:p>
          <a:p>
            <a:pPr marL="342900" indent="-342900">
              <a:buChar char="•"/>
            </a:pPr>
            <a:r>
              <a:rPr lang="en-US" sz="2400" b="1" dirty="0" err="1">
                <a:latin typeface="Arial"/>
                <a:cs typeface="Arial"/>
              </a:rPr>
              <a:t>Curso</a:t>
            </a:r>
            <a:r>
              <a:rPr lang="en-US" sz="2400" b="1" dirty="0">
                <a:latin typeface="Arial"/>
                <a:cs typeface="Arial"/>
              </a:rPr>
              <a:t>: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 err="1">
                <a:latin typeface="Arial"/>
                <a:cs typeface="Arial"/>
              </a:rPr>
              <a:t>Análise</a:t>
            </a:r>
            <a:r>
              <a:rPr lang="en-US" sz="2400" dirty="0">
                <a:latin typeface="Arial"/>
                <a:cs typeface="Arial"/>
              </a:rPr>
              <a:t> e </a:t>
            </a:r>
            <a:r>
              <a:rPr lang="en-US" sz="2400" dirty="0" err="1">
                <a:latin typeface="Arial"/>
                <a:cs typeface="Arial"/>
              </a:rPr>
              <a:t>Desenvolvimento</a:t>
            </a:r>
            <a:r>
              <a:rPr lang="en-US" sz="2400" dirty="0">
                <a:latin typeface="Arial"/>
                <a:cs typeface="Arial"/>
              </a:rPr>
              <a:t> de </a:t>
            </a:r>
            <a:r>
              <a:rPr lang="en-US" sz="2400" dirty="0" err="1">
                <a:latin typeface="Arial"/>
                <a:cs typeface="Arial"/>
              </a:rPr>
              <a:t>Sistemas</a:t>
            </a:r>
            <a:r>
              <a:rPr lang="en-US" sz="2400" dirty="0">
                <a:latin typeface="Arial"/>
                <a:cs typeface="Arial"/>
              </a:rPr>
              <a:t> (ADS).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6F5632-FC20-4A72-E488-744775612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791399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sz="2800" b="1" dirty="0">
                <a:latin typeface="Arial"/>
                <a:cs typeface="Arial"/>
              </a:rPr>
              <a:t>A proposta </a:t>
            </a:r>
            <a:r>
              <a:rPr lang="pt-BR" sz="2800" b="1" dirty="0" err="1">
                <a:latin typeface="Arial"/>
                <a:cs typeface="Arial"/>
              </a:rPr>
              <a:t>( ou</a:t>
            </a:r>
            <a:r>
              <a:rPr lang="pt-BR" sz="2800" b="1" dirty="0">
                <a:latin typeface="Arial"/>
                <a:cs typeface="Arial"/>
              </a:rPr>
              <a:t> o famoso porquê):</a:t>
            </a:r>
          </a:p>
        </p:txBody>
      </p:sp>
      <p:pic>
        <p:nvPicPr>
          <p:cNvPr id="29" name="Picture 4">
            <a:extLst>
              <a:ext uri="{FF2B5EF4-FFF2-40B4-BE49-F238E27FC236}">
                <a16:creationId xmlns:a16="http://schemas.microsoft.com/office/drawing/2014/main" id="{D4063A69-892D-B2E5-5DCE-B44D425C35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49" r="31541" b="6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30" name="Straight Connector 10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B7DF67-192A-06DD-A47B-CB7CA363D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129" y="1718089"/>
            <a:ext cx="6578763" cy="423150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latin typeface="Arial"/>
                <a:cs typeface="Arial"/>
              </a:rPr>
              <a:t>O que é: Um hub de convivência digital para a comunidade UNIFEV.</a:t>
            </a:r>
            <a:endParaRPr lang="pt-BR">
              <a:latin typeface="Calisto MT"/>
              <a:cs typeface="Arial"/>
            </a:endParaRPr>
          </a:p>
          <a:p>
            <a:r>
              <a:rPr lang="pt-BR">
                <a:latin typeface="Arial"/>
                <a:cs typeface="Arial"/>
              </a:rPr>
              <a:t>Foco em Utilidade: Centralização do sistema de Achados e Perdidos (evitando a perda de pertences nos Câmpus).</a:t>
            </a:r>
            <a:endParaRPr lang="pt-BR"/>
          </a:p>
          <a:p>
            <a:r>
              <a:rPr lang="pt-BR" dirty="0">
                <a:latin typeface="Arial"/>
                <a:cs typeface="Arial"/>
              </a:rPr>
              <a:t>Foco em Convivência: Espaço para marcar "jogatinas" no </a:t>
            </a:r>
            <a:r>
              <a:rPr lang="pt-BR" dirty="0" err="1">
                <a:latin typeface="Arial"/>
                <a:cs typeface="Arial"/>
              </a:rPr>
              <a:t>Discord</a:t>
            </a:r>
            <a:r>
              <a:rPr lang="pt-BR" dirty="0">
                <a:latin typeface="Arial"/>
                <a:cs typeface="Arial"/>
              </a:rPr>
              <a:t>, organizar o "</a:t>
            </a:r>
            <a:r>
              <a:rPr lang="pt-BR" dirty="0" err="1">
                <a:latin typeface="Arial"/>
                <a:cs typeface="Arial"/>
              </a:rPr>
              <a:t>futzinho</a:t>
            </a:r>
            <a:r>
              <a:rPr lang="pt-BR" dirty="0">
                <a:latin typeface="Arial"/>
                <a:cs typeface="Arial"/>
              </a:rPr>
              <a:t>" de final de semana, combinar caronas e integrar os alunos de diferentes cursos.</a:t>
            </a:r>
            <a:endParaRPr lang="pt-BR" dirty="0"/>
          </a:p>
          <a:p>
            <a:r>
              <a:rPr lang="pt-BR">
                <a:latin typeface="Arial"/>
                <a:cs typeface="Arial"/>
              </a:rPr>
              <a:t>Voz do Aluno: Linguagem descontraída e segura para desabafos e interações acadêmicas.</a:t>
            </a:r>
            <a:endParaRPr lang="pt-BR"/>
          </a:p>
          <a:p>
            <a:endParaRPr lang="pt-BR" dirty="0">
              <a:latin typeface="Arial"/>
              <a:cs typeface="Arial"/>
            </a:endParaRPr>
          </a:p>
        </p:txBody>
      </p:sp>
      <p:cxnSp>
        <p:nvCxnSpPr>
          <p:cNvPr id="31" name="Straight Connector 1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959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313923-4DD5-F1F1-285C-6BAE54460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>
                <a:latin typeface="Arial"/>
                <a:cs typeface="Arial"/>
              </a:rPr>
              <a:t>Diferenciais Técnicos: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7B58E9-A17E-48AC-2F65-980A8DB0B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23762"/>
            <a:ext cx="10691265" cy="41306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2200">
                <a:latin typeface="Arial"/>
                <a:cs typeface="Arial"/>
              </a:rPr>
              <a:t>Design Responsivo: Interface que se adapta perfeitamente do PC ao celular (essencial para o dia a dia do aluno).</a:t>
            </a:r>
            <a:endParaRPr lang="pt-BR" sz="2200" dirty="0">
              <a:latin typeface="Arial"/>
              <a:cs typeface="Arial"/>
            </a:endParaRPr>
          </a:p>
          <a:p>
            <a:r>
              <a:rPr lang="pt-BR" sz="2200" dirty="0">
                <a:latin typeface="Arial"/>
                <a:cs typeface="Arial"/>
              </a:rPr>
              <a:t>UI/UX Moderno: Uso de efeitos de vidro (</a:t>
            </a:r>
            <a:r>
              <a:rPr lang="pt-BR" sz="2200" u="sng" dirty="0" err="1">
                <a:latin typeface="Arial"/>
                <a:cs typeface="Arial"/>
              </a:rPr>
              <a:t>glassmorphism</a:t>
            </a:r>
            <a:r>
              <a:rPr lang="pt-BR" sz="2200" dirty="0">
                <a:latin typeface="Arial"/>
                <a:cs typeface="Arial"/>
              </a:rPr>
              <a:t>), menus flutuantes e navegação intuitiva.</a:t>
            </a:r>
          </a:p>
          <a:p>
            <a:r>
              <a:rPr lang="pt-BR" sz="2200">
                <a:latin typeface="Arial"/>
                <a:cs typeface="Arial"/>
              </a:rPr>
              <a:t>Tecnologias: HTML5, CSS3 (Modular) e PHP para a estruturação dos componentes do site.</a:t>
            </a:r>
            <a:endParaRPr lang="pt-BR" sz="2200" dirty="0">
              <a:latin typeface="Arial"/>
              <a:cs typeface="Arial"/>
            </a:endParaRPr>
          </a:p>
          <a:p>
            <a:r>
              <a:rPr lang="pt-BR" sz="2200">
                <a:latin typeface="Arial"/>
                <a:cs typeface="Arial"/>
              </a:rPr>
              <a:t>Identidade Visual: Foco em cores que remetem à energia universitária e legibilidade otimizada.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5066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1F766D-164C-22A3-CE27-D8CB61202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4207882" cy="791777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sz="2800" b="1">
                <a:latin typeface="Arial"/>
                <a:cs typeface="Arial"/>
              </a:rPr>
              <a:t>Stack Tecnológica e Arquitetura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A1F8B7-CF66-619F-0F1C-DB4456C56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565" y="1715321"/>
            <a:ext cx="5907727" cy="4881488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endParaRPr lang="pt-BR"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pt-BR" sz="1800" dirty="0">
                <a:latin typeface="Arial"/>
                <a:cs typeface="Arial"/>
              </a:rPr>
              <a:t>PHP (Back-</a:t>
            </a:r>
            <a:r>
              <a:rPr lang="pt-BR" sz="1800" dirty="0" err="1">
                <a:latin typeface="Arial"/>
                <a:cs typeface="Arial"/>
              </a:rPr>
              <a:t>end</a:t>
            </a:r>
            <a:r>
              <a:rPr lang="pt-BR" sz="1800" dirty="0">
                <a:latin typeface="Arial"/>
                <a:cs typeface="Arial"/>
              </a:rPr>
              <a:t> Modular): Uso de include para reaproveitamento de componentes (Header, </a:t>
            </a:r>
            <a:r>
              <a:rPr lang="pt-BR" sz="1800" dirty="0" err="1">
                <a:latin typeface="Arial"/>
                <a:cs typeface="Arial"/>
              </a:rPr>
              <a:t>Navbar</a:t>
            </a:r>
            <a:r>
              <a:rPr lang="pt-BR" sz="1800" dirty="0">
                <a:latin typeface="Arial"/>
                <a:cs typeface="Arial"/>
              </a:rPr>
              <a:t>, </a:t>
            </a:r>
            <a:r>
              <a:rPr lang="pt-BR" sz="1800" dirty="0" err="1">
                <a:latin typeface="Arial"/>
                <a:cs typeface="Arial"/>
              </a:rPr>
              <a:t>Footer</a:t>
            </a:r>
            <a:r>
              <a:rPr lang="pt-BR" sz="1800" dirty="0">
                <a:latin typeface="Arial"/>
                <a:cs typeface="Arial"/>
              </a:rPr>
              <a:t>). Isso garante um código limpo (DRY - </a:t>
            </a:r>
            <a:r>
              <a:rPr lang="pt-BR" sz="1800" dirty="0" err="1">
                <a:latin typeface="Arial"/>
                <a:cs typeface="Arial"/>
              </a:rPr>
              <a:t>Don't</a:t>
            </a:r>
            <a:r>
              <a:rPr lang="pt-BR" sz="1800" dirty="0">
                <a:latin typeface="Arial"/>
                <a:cs typeface="Arial"/>
              </a:rPr>
              <a:t> </a:t>
            </a:r>
            <a:r>
              <a:rPr lang="pt-BR" sz="1800" dirty="0" err="1">
                <a:latin typeface="Arial"/>
                <a:cs typeface="Arial"/>
              </a:rPr>
              <a:t>Repeat</a:t>
            </a:r>
            <a:r>
              <a:rPr lang="pt-BR" sz="1800" dirty="0">
                <a:latin typeface="Arial"/>
                <a:cs typeface="Arial"/>
              </a:rPr>
              <a:t> </a:t>
            </a:r>
            <a:r>
              <a:rPr lang="pt-BR" sz="1800" dirty="0" err="1">
                <a:latin typeface="Arial"/>
                <a:cs typeface="Arial"/>
              </a:rPr>
              <a:t>Yourself</a:t>
            </a:r>
            <a:r>
              <a:rPr lang="pt-BR" sz="1800" dirty="0">
                <a:latin typeface="Arial"/>
                <a:cs typeface="Arial"/>
              </a:rPr>
              <a:t>) e fácil manutenção.</a:t>
            </a:r>
          </a:p>
          <a:p>
            <a:pPr>
              <a:lnSpc>
                <a:spcPct val="100000"/>
              </a:lnSpc>
            </a:pPr>
            <a:r>
              <a:rPr lang="pt-BR" sz="1800" dirty="0">
                <a:latin typeface="Arial"/>
                <a:cs typeface="Arial"/>
              </a:rPr>
              <a:t>CSS3 Avançado: Implementação de </a:t>
            </a:r>
            <a:r>
              <a:rPr lang="pt-BR" sz="1800" dirty="0" err="1">
                <a:latin typeface="Arial"/>
                <a:cs typeface="Arial"/>
              </a:rPr>
              <a:t>Flexbox</a:t>
            </a:r>
            <a:r>
              <a:rPr lang="pt-BR" sz="1800" dirty="0">
                <a:latin typeface="Arial"/>
                <a:cs typeface="Arial"/>
              </a:rPr>
              <a:t> para layouts dinâmicos e uso de propriedades modernas como </a:t>
            </a:r>
            <a:r>
              <a:rPr lang="pt-BR" sz="1800" dirty="0" err="1">
                <a:latin typeface="Arial"/>
                <a:cs typeface="Arial"/>
              </a:rPr>
              <a:t>backdrop-filter</a:t>
            </a:r>
            <a:r>
              <a:rPr lang="pt-BR" sz="1800" dirty="0">
                <a:latin typeface="Arial"/>
                <a:cs typeface="Arial"/>
              </a:rPr>
              <a:t> (efeito </a:t>
            </a:r>
            <a:r>
              <a:rPr lang="pt-BR" sz="1800" dirty="0" err="1">
                <a:latin typeface="Arial"/>
                <a:cs typeface="Arial"/>
              </a:rPr>
              <a:t>Glassmorphism</a:t>
            </a:r>
            <a:r>
              <a:rPr lang="pt-BR" sz="1800" dirty="0">
                <a:latin typeface="Arial"/>
                <a:cs typeface="Arial"/>
              </a:rPr>
              <a:t>) e </a:t>
            </a:r>
            <a:r>
              <a:rPr lang="pt-BR" sz="1800" dirty="0" err="1">
                <a:latin typeface="Arial"/>
                <a:cs typeface="Arial"/>
              </a:rPr>
              <a:t>mask-image</a:t>
            </a:r>
            <a:r>
              <a:rPr lang="pt-BR" sz="1800" dirty="0">
                <a:latin typeface="Arial"/>
                <a:cs typeface="Arial"/>
              </a:rPr>
              <a:t> (acabamento dos avatares).</a:t>
            </a:r>
          </a:p>
          <a:p>
            <a:pPr>
              <a:lnSpc>
                <a:spcPct val="100000"/>
              </a:lnSpc>
            </a:pPr>
            <a:r>
              <a:rPr lang="pt-BR" sz="1800" dirty="0">
                <a:latin typeface="Arial"/>
                <a:cs typeface="Arial"/>
              </a:rPr>
              <a:t>HTML5 Semântico: Estrutura baseada em </a:t>
            </a:r>
            <a:r>
              <a:rPr lang="pt-BR" sz="1800" dirty="0" err="1">
                <a:latin typeface="Arial"/>
                <a:cs typeface="Arial"/>
              </a:rPr>
              <a:t>tags</a:t>
            </a:r>
            <a:r>
              <a:rPr lang="pt-BR" sz="1800" dirty="0">
                <a:latin typeface="Arial"/>
                <a:cs typeface="Arial"/>
              </a:rPr>
              <a:t> semânticas (</a:t>
            </a:r>
            <a:r>
              <a:rPr lang="pt-BR" sz="1800" dirty="0" err="1">
                <a:latin typeface="Arial"/>
                <a:cs typeface="Arial"/>
              </a:rPr>
              <a:t>main</a:t>
            </a:r>
            <a:r>
              <a:rPr lang="pt-BR" sz="1800" dirty="0">
                <a:latin typeface="Arial"/>
                <a:cs typeface="Arial"/>
              </a:rPr>
              <a:t>, </a:t>
            </a:r>
            <a:r>
              <a:rPr lang="pt-BR" sz="1800" dirty="0" err="1">
                <a:latin typeface="Arial"/>
                <a:cs typeface="Arial"/>
              </a:rPr>
              <a:t>article</a:t>
            </a:r>
            <a:r>
              <a:rPr lang="pt-BR" sz="1800" dirty="0">
                <a:latin typeface="Arial"/>
                <a:cs typeface="Arial"/>
              </a:rPr>
              <a:t>, </a:t>
            </a:r>
            <a:r>
              <a:rPr lang="pt-BR" sz="1800" dirty="0" err="1">
                <a:latin typeface="Arial"/>
                <a:cs typeface="Arial"/>
              </a:rPr>
              <a:t>section</a:t>
            </a:r>
            <a:r>
              <a:rPr lang="pt-BR" sz="1800" dirty="0">
                <a:latin typeface="Arial"/>
                <a:cs typeface="Arial"/>
              </a:rPr>
              <a:t>), otimizando a organização do conteúdo para navegadores.</a:t>
            </a:r>
          </a:p>
          <a:p>
            <a:pPr>
              <a:lnSpc>
                <a:spcPct val="100000"/>
              </a:lnSpc>
            </a:pPr>
            <a:r>
              <a:rPr lang="pt-BR" sz="1800">
                <a:latin typeface="Arial"/>
                <a:cs typeface="Arial"/>
              </a:rPr>
              <a:t>Segurança e UX: Lógica de interface que previne a exposição de dados sensíveis em documentos e formulários adaptados para dispositivos móveis.</a:t>
            </a:r>
          </a:p>
          <a:p>
            <a:pPr>
              <a:lnSpc>
                <a:spcPct val="100000"/>
              </a:lnSpc>
            </a:pPr>
            <a:endParaRPr lang="pt-BR"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2227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D2E2F6D9-F9F0-47A2-A074-0A6B79B64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65DF4B1-F551-4918-A8AC-57E79CC4F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3E717E-054D-63DB-BC74-0E9F4E5E6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71758"/>
            <a:ext cx="3534686" cy="38711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Página de  </a:t>
            </a:r>
            <a:r>
              <a:rPr lang="en-US" sz="2800" b="1" dirty="0" err="1">
                <a:solidFill>
                  <a:schemeClr val="bg1"/>
                </a:solidFill>
              </a:rPr>
              <a:t>nOVa</a:t>
            </a:r>
            <a:r>
              <a:rPr lang="en-US" sz="2800" b="1" dirty="0">
                <a:solidFill>
                  <a:schemeClr val="bg1"/>
                </a:solidFill>
              </a:rPr>
              <a:t> </a:t>
            </a:r>
            <a:r>
              <a:rPr lang="en-US" sz="2800" b="1" dirty="0" err="1">
                <a:solidFill>
                  <a:schemeClr val="bg1"/>
                </a:solidFill>
              </a:rPr>
              <a:t>POSTagem</a:t>
            </a:r>
            <a:r>
              <a:rPr lang="en-US" sz="2800" b="1" dirty="0">
                <a:solidFill>
                  <a:schemeClr val="bg1"/>
                </a:solidFill>
              </a:rPr>
              <a:t> MOBILE X DESKTOP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0EEADAF-D8D3-450B-A46D-DE8E54173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 descr="Tela de celular com publicação numa rede social&#10;&#10;O conteúdo gerado por IA pode estar incorreto.">
            <a:extLst>
              <a:ext uri="{FF2B5EF4-FFF2-40B4-BE49-F238E27FC236}">
                <a16:creationId xmlns:a16="http://schemas.microsoft.com/office/drawing/2014/main" id="{A7E9E17B-6E07-2FF1-D7BE-E57CF267E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982" r="37551" b="1"/>
          <a:stretch>
            <a:fillRect/>
          </a:stretch>
        </p:blipFill>
        <p:spPr>
          <a:xfrm>
            <a:off x="4743450" y="-1"/>
            <a:ext cx="3638549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481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1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1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6" name="Rectangle 2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Espaço Reservado para Conteúdo 3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AE365F7F-10A2-5B4A-1BD7-C0F7661E76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1394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7" name="Rectangle 23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3F9A31-2FDE-820D-8172-9F3BE27C5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86" y="908651"/>
            <a:ext cx="5230366" cy="40054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>
                <a:latin typeface="Arial"/>
                <a:cs typeface="Arial"/>
              </a:rPr>
              <a:t>ACHADOS E PERDIDOS</a:t>
            </a:r>
          </a:p>
        </p:txBody>
      </p:sp>
      <p:cxnSp>
        <p:nvCxnSpPr>
          <p:cNvPr id="38" name="Straight Connector 25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606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9D9A21-C12C-2DF8-C1E6-A36BDB2B9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>
                <a:latin typeface="Arial"/>
                <a:cs typeface="Arial"/>
              </a:rPr>
              <a:t>Funcionalidades em Destaque (Achados e Perdidos):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76AB43-B9A2-D8BB-CF5F-72E7B1611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17759"/>
            <a:ext cx="10691265" cy="37737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2200">
                <a:latin typeface="Arial"/>
                <a:cs typeface="Arial"/>
              </a:rPr>
              <a:t>Organização: Separação por categorias (Perdido vs. Achado).</a:t>
            </a:r>
            <a:endParaRPr lang="pt-BR" sz="2200" dirty="0">
              <a:latin typeface="Arial"/>
              <a:cs typeface="Arial"/>
            </a:endParaRPr>
          </a:p>
          <a:p>
            <a:r>
              <a:rPr lang="pt-BR" sz="2200">
                <a:latin typeface="Arial"/>
                <a:cs typeface="Arial"/>
              </a:rPr>
              <a:t>Interatividade: Sistema de comentários para facilitar a devolução de itens.</a:t>
            </a:r>
            <a:endParaRPr lang="pt-BR" sz="2200" dirty="0">
              <a:latin typeface="Arial"/>
              <a:cs typeface="Arial"/>
            </a:endParaRPr>
          </a:p>
          <a:p>
            <a:r>
              <a:rPr lang="pt-BR" sz="2200">
                <a:latin typeface="Arial"/>
                <a:cs typeface="Arial"/>
              </a:rPr>
              <a:t>Segurança: Implementação de alertas de privacidade para proteção de dados sensíveis em documentos e cartões.</a:t>
            </a:r>
            <a:endParaRPr lang="pt-BR" sz="2200" dirty="0">
              <a:latin typeface="Arial"/>
              <a:cs typeface="Arial"/>
            </a:endParaRPr>
          </a:p>
          <a:p>
            <a:pPr marL="0" indent="0">
              <a:buNone/>
            </a:pPr>
            <a:endParaRPr lang="pt-BR" sz="2200" dirty="0">
              <a:latin typeface="Arial"/>
              <a:cs typeface="Arial"/>
            </a:endParaRPr>
          </a:p>
          <a:p>
            <a:endParaRPr lang="pt-BR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6371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Straight Connector 2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4" name="Rectangle 22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398A8F-0F67-ABDC-1423-C1D52312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181" y="4885459"/>
            <a:ext cx="10752609" cy="7651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1" dirty="0" err="1">
                <a:latin typeface="Arial"/>
                <a:cs typeface="Arial"/>
              </a:rPr>
              <a:t>Achados</a:t>
            </a:r>
            <a:r>
              <a:rPr lang="en-US" sz="3600" b="1" dirty="0">
                <a:latin typeface="Arial"/>
                <a:cs typeface="Arial"/>
              </a:rPr>
              <a:t> e </a:t>
            </a:r>
            <a:r>
              <a:rPr lang="en-US" sz="3600" b="1" dirty="0" err="1">
                <a:latin typeface="Arial"/>
                <a:cs typeface="Arial"/>
              </a:rPr>
              <a:t>perdidos</a:t>
            </a:r>
            <a:r>
              <a:rPr lang="en-US" sz="3600" b="1" dirty="0">
                <a:latin typeface="Arial"/>
                <a:cs typeface="Arial"/>
              </a:rPr>
              <a:t> MOBILE X DESKTOP</a:t>
            </a:r>
          </a:p>
        </p:txBody>
      </p:sp>
      <p:pic>
        <p:nvPicPr>
          <p:cNvPr id="9" name="Imagem 8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2704E598-D992-F805-56F3-58CC149DB7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51" b="4"/>
          <a:stretch>
            <a:fillRect/>
          </a:stretch>
        </p:blipFill>
        <p:spPr>
          <a:xfrm>
            <a:off x="654424" y="781068"/>
            <a:ext cx="2798268" cy="3645254"/>
          </a:xfrm>
          <a:prstGeom prst="rect">
            <a:avLst/>
          </a:prstGeom>
        </p:spPr>
      </p:pic>
      <p:pic>
        <p:nvPicPr>
          <p:cNvPr id="6" name="Imagem 5" descr="Interface gráfica do usuário - Submenu : Achados e Perdidos, Site - Versão Mobile">
            <a:extLst>
              <a:ext uri="{FF2B5EF4-FFF2-40B4-BE49-F238E27FC236}">
                <a16:creationId xmlns:a16="http://schemas.microsoft.com/office/drawing/2014/main" id="{C8B89E95-CB41-4CFC-61C4-24670FEDB8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370" r="-3" b="-3"/>
          <a:stretch>
            <a:fillRect/>
          </a:stretch>
        </p:blipFill>
        <p:spPr>
          <a:xfrm>
            <a:off x="3599698" y="792459"/>
            <a:ext cx="2584618" cy="3633862"/>
          </a:xfrm>
          <a:prstGeom prst="rect">
            <a:avLst/>
          </a:prstGeom>
        </p:spPr>
      </p:pic>
      <p:pic>
        <p:nvPicPr>
          <p:cNvPr id="10" name="Imagem 9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AC3540D0-1E5D-8A6E-539E-5A6FA69853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13" r="2473" b="4"/>
          <a:stretch>
            <a:fillRect/>
          </a:stretch>
        </p:blipFill>
        <p:spPr>
          <a:xfrm>
            <a:off x="6264834" y="788935"/>
            <a:ext cx="2585720" cy="362618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ABD05E9-1B4C-2BD0-4865-E4B06A27C5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214" r="3" b="3"/>
          <a:stretch>
            <a:fillRect/>
          </a:stretch>
        </p:blipFill>
        <p:spPr>
          <a:xfrm>
            <a:off x="8980045" y="775757"/>
            <a:ext cx="2624766" cy="3628152"/>
          </a:xfrm>
          <a:prstGeom prst="rect">
            <a:avLst/>
          </a:prstGeom>
        </p:spPr>
      </p:pic>
      <p:cxnSp>
        <p:nvCxnSpPr>
          <p:cNvPr id="255" name="Straight Connector 226">
            <a:extLst>
              <a:ext uri="{FF2B5EF4-FFF2-40B4-BE49-F238E27FC236}">
                <a16:creationId xmlns:a16="http://schemas.microsoft.com/office/drawing/2014/main" id="{3D0A5F80-3A4E-4404-B836-A6C23BDEE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720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224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ADD2E-47C2-D63D-F145-2C792376B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>
                <a:latin typeface="Arial"/>
                <a:cs typeface="Arial"/>
              </a:rPr>
              <a:t>Conclusão e Evolução</a:t>
            </a:r>
            <a:endParaRPr lang="pt-BR" sz="2800" b="1">
              <a:latin typeface="Arial"/>
              <a:ea typeface="+mj-lt"/>
              <a:cs typeface="Arial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05C6B3-BAE0-A0B0-8F1A-ED2691C77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sz="2400">
                <a:latin typeface="Arial"/>
                <a:cs typeface="Arial"/>
              </a:rPr>
              <a:t>Aprendizado: Aplicação prática dos conceitos de estrutura de dados e layout web aprendidos no bimestre.</a:t>
            </a:r>
          </a:p>
          <a:p>
            <a:r>
              <a:rPr lang="pt-BR" sz="2400" dirty="0" err="1">
                <a:latin typeface="Arial"/>
                <a:cs typeface="Arial"/>
              </a:rPr>
              <a:t>O próximos passos</a:t>
            </a:r>
            <a:r>
              <a:rPr lang="pt-BR" sz="2400" dirty="0">
                <a:latin typeface="Arial"/>
                <a:cs typeface="Arial"/>
              </a:rPr>
              <a:t>: Implementação total do banco de dados (MySQL) para persistência dos posts, validação e envio e envio de </a:t>
            </a:r>
            <a:r>
              <a:rPr lang="pt-BR" sz="2400" dirty="0" err="1">
                <a:latin typeface="Arial"/>
                <a:cs typeface="Arial"/>
              </a:rPr>
              <a:t>email</a:t>
            </a:r>
            <a:r>
              <a:rPr lang="pt-BR" sz="2400" dirty="0">
                <a:latin typeface="Arial"/>
                <a:cs typeface="Arial"/>
              </a:rPr>
              <a:t> concomitado com o sistema de login de alunos.</a:t>
            </a:r>
          </a:p>
          <a:p>
            <a:endParaRPr lang="pt-BR" sz="2400" u="sng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pt-BR" sz="2400" b="1" i="1">
                <a:latin typeface="Arial"/>
                <a:cs typeface="Arial"/>
              </a:rPr>
              <a:t>" Mais que um site de fofocas, uma ferramenta de utilidade pública para a Comunidade UNIFEV.</a:t>
            </a:r>
            <a:r>
              <a:rPr lang="pt-BR" sz="2400" i="1">
                <a:latin typeface="Arial"/>
                <a:cs typeface="Arial"/>
              </a:rPr>
              <a:t>"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8778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EB7DA3-79BB-7B4B-DF82-232CF953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791497"/>
            <a:ext cx="10691265" cy="545593"/>
          </a:xfrm>
        </p:spPr>
        <p:txBody>
          <a:bodyPr>
            <a:normAutofit/>
          </a:bodyPr>
          <a:lstStyle/>
          <a:p>
            <a:r>
              <a:rPr lang="pt-BR" sz="2800" b="1">
                <a:latin typeface="Arial"/>
                <a:cs typeface="Arial"/>
              </a:rPr>
              <a:t>Visão de Futuro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591A77-D318-0676-764B-4F97A29D3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349381"/>
            <a:ext cx="10691265" cy="460021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pt-BR" sz="2200" dirty="0">
                <a:latin typeface="Arial"/>
                <a:cs typeface="Arial"/>
              </a:rPr>
              <a:t>Como todo Pokémon evolui </a:t>
            </a:r>
            <a:r>
              <a:rPr lang="pt-BR" sz="2200" dirty="0" err="1">
                <a:latin typeface="Arial"/>
                <a:cs typeface="Arial"/>
              </a:rPr>
              <a:t>( aliás</a:t>
            </a:r>
            <a:r>
              <a:rPr lang="pt-BR" sz="2200" dirty="0">
                <a:latin typeface="Arial"/>
                <a:cs typeface="Arial"/>
              </a:rPr>
              <a:t>, há </a:t>
            </a:r>
            <a:r>
              <a:rPr lang="pt-BR" sz="2200" dirty="0" err="1">
                <a:latin typeface="Arial"/>
                <a:cs typeface="Arial"/>
              </a:rPr>
              <a:t>controvérsias )</a:t>
            </a:r>
            <a:r>
              <a:rPr lang="pt-BR" sz="2200" dirty="0">
                <a:latin typeface="Arial"/>
                <a:cs typeface="Arial"/>
              </a:rPr>
              <a:t> a plataforma também visa evoluir, tanto na sua abrangência física quanto estrutural. O pontapé da elaboração se dá por uma ideia individual que evolui não </a:t>
            </a:r>
            <a:r>
              <a:rPr lang="pt-BR" sz="2200" u="sng" dirty="0">
                <a:latin typeface="Arial"/>
                <a:cs typeface="Arial"/>
              </a:rPr>
              <a:t>só</a:t>
            </a:r>
            <a:r>
              <a:rPr lang="pt-BR" sz="2200" dirty="0">
                <a:latin typeface="Arial"/>
                <a:cs typeface="Arial"/>
              </a:rPr>
              <a:t> pelo empenho do idealizador, como também um trabalho designado a futuras equipes da própria disciplina de Análise e Desenvolvimento de Sistemas. Como assim você me pergunta?</a:t>
            </a:r>
          </a:p>
          <a:p>
            <a:pPr marL="0" indent="0">
              <a:buNone/>
            </a:pPr>
            <a:r>
              <a:rPr lang="pt-BR" sz="2200" dirty="0">
                <a:latin typeface="Arial"/>
                <a:cs typeface="Arial"/>
              </a:rPr>
              <a:t>Não somente o networking em si, mas a elaboração e formação de futuras equipes que realizem a manutenção e o aperfeiçoamento do Projeto </a:t>
            </a:r>
            <a:r>
              <a:rPr lang="pt-BR" sz="2200" dirty="0" err="1">
                <a:latin typeface="Arial"/>
                <a:cs typeface="Arial"/>
              </a:rPr>
              <a:t>Spotted</a:t>
            </a:r>
            <a:r>
              <a:rPr lang="pt-BR" sz="2200" dirty="0">
                <a:latin typeface="Arial"/>
                <a:cs typeface="Arial"/>
              </a:rPr>
              <a:t> ' A Fenda ', seria como "passar o bastão" a próxima turma de ADS. O objetivo é que 'A Fenda' não seja apenas o nosso projeto de primeiro bimestre, mas um laboratório vivo. Que os próximos alunos de ADS possam implementar o banco de dados, criar novas rotas e aperfeiçoar o que já </a:t>
            </a:r>
            <a:r>
              <a:rPr lang="pt-BR" sz="2200" dirty="0" err="1">
                <a:latin typeface="Arial"/>
                <a:cs typeface="Arial"/>
              </a:rPr>
              <a:t>começamos, transformando</a:t>
            </a:r>
            <a:r>
              <a:rPr lang="pt-BR" sz="2200" dirty="0">
                <a:latin typeface="Arial"/>
                <a:cs typeface="Arial"/>
              </a:rPr>
              <a:t> o exercício acadêmico em </a:t>
            </a:r>
            <a:r>
              <a:rPr lang="pt-BR" sz="2200">
                <a:latin typeface="Arial"/>
                <a:cs typeface="Arial"/>
              </a:rPr>
              <a:t>um serviço real para a UNIFEV.</a:t>
            </a:r>
          </a:p>
        </p:txBody>
      </p:sp>
    </p:spTree>
    <p:extLst>
      <p:ext uri="{BB962C8B-B14F-4D97-AF65-F5344CB8AC3E}">
        <p14:creationId xmlns:p14="http://schemas.microsoft.com/office/powerpoint/2010/main" val="1441120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16">
            <a:extLst>
              <a:ext uri="{FF2B5EF4-FFF2-40B4-BE49-F238E27FC236}">
                <a16:creationId xmlns:a16="http://schemas.microsoft.com/office/drawing/2014/main" id="{C3D0AD61-C4EE-4A0B-8733-BAE046F63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18">
            <a:extLst>
              <a:ext uri="{FF2B5EF4-FFF2-40B4-BE49-F238E27FC236}">
                <a16:creationId xmlns:a16="http://schemas.microsoft.com/office/drawing/2014/main" id="{B0627202-EFF9-43AD-A17D-9C0A58353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6870CB10-4DAF-8E7D-E19C-9D0F595DF4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2" r="3811" b="1"/>
          <a:stretch>
            <a:fillRect/>
          </a:stretch>
        </p:blipFill>
        <p:spPr>
          <a:xfrm>
            <a:off x="324145" y="774885"/>
            <a:ext cx="4046265" cy="2544620"/>
          </a:xfrm>
          <a:prstGeom prst="rect">
            <a:avLst/>
          </a:prstGeom>
        </p:spPr>
      </p:pic>
      <p:pic>
        <p:nvPicPr>
          <p:cNvPr id="4" name="Imagem 3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1CAD7FAD-F525-6D03-6BDB-53F19F57C2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56" r="4888" b="1"/>
          <a:stretch>
            <a:fillRect/>
          </a:stretch>
        </p:blipFill>
        <p:spPr>
          <a:xfrm>
            <a:off x="335351" y="3430889"/>
            <a:ext cx="4036239" cy="2544642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F8996D-B1F3-57BB-3723-CA2696A9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9078" y="99289"/>
            <a:ext cx="7489270" cy="63583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1800" b="1">
                <a:latin typeface="Arial"/>
                <a:cs typeface="Arial"/>
              </a:rPr>
              <a:t>Visão de Futuro: A Evolução da Fenda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800">
                <a:latin typeface="Arial"/>
                <a:cs typeface="Arial"/>
              </a:rPr>
              <a:t>"A Fenda" não nasceu para ser apenas um portal estático, mas sim um organismo vivo que evolui conforme as necessidades da comunidade UNIFEV. Para as próximas etapas de desenvolvimento (V2), o projeto prevê a implementação de módulos que resolvem problemas do cotidiano universitário:</a:t>
            </a:r>
            <a:endParaRPr lang="pt-BR" sz="18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sz="1800">
                <a:latin typeface="Arial"/>
                <a:cs typeface="Arial"/>
              </a:rPr>
              <a:t>Fenda Market (Desapegos): Um marketplace interno seguro onde alunos podem anunciar livros, calculadoras, móveis ou materiais de laboratório. O foco aqui é a economia circular e a facilidade de negociar com quem você cruza nos corredores, eliminando custos de frete e riscos de plataformas abertas.</a:t>
            </a:r>
            <a:endParaRPr lang="pt-BR" sz="18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sz="1800" dirty="0">
                <a:latin typeface="Arial"/>
                <a:cs typeface="Arial"/>
              </a:rPr>
              <a:t>Mural de Repúblicas: A busca por moradia é um dos maiores desafios para quem vem de fora. Este módulo vai permitir anúncio de vagas em repúblicas e a busca por "</a:t>
            </a:r>
            <a:r>
              <a:rPr lang="pt-BR" sz="1800" dirty="0" err="1">
                <a:latin typeface="Arial"/>
                <a:cs typeface="Arial"/>
              </a:rPr>
              <a:t>roommates</a:t>
            </a:r>
            <a:r>
              <a:rPr lang="pt-BR" sz="1800" dirty="0">
                <a:latin typeface="Arial"/>
                <a:cs typeface="Arial"/>
              </a:rPr>
              <a:t>" compatíveis, centralizando o que hoje é espalhado em grupos de WhatsApp.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800">
                <a:latin typeface="Arial"/>
                <a:cs typeface="Arial"/>
              </a:rPr>
              <a:t>Hub de Oportunidades: Um espaço para anúncio de monitorias, grupos de estudo e até pequenas tarefas ("freelas") entre os próprios estudantes, fomentando o networking e a ajuda mútua.</a:t>
            </a:r>
            <a:endParaRPr lang="pt-BR"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pt-BR" sz="1400">
              <a:latin typeface="Arial"/>
              <a:cs typeface="Arial"/>
            </a:endParaRPr>
          </a:p>
        </p:txBody>
      </p:sp>
      <p:cxnSp>
        <p:nvCxnSpPr>
          <p:cNvPr id="38" name="Straight Connector 20">
            <a:extLst>
              <a:ext uri="{FF2B5EF4-FFF2-40B4-BE49-F238E27FC236}">
                <a16:creationId xmlns:a16="http://schemas.microsoft.com/office/drawing/2014/main" id="{A122FEF2-9343-4D52-A0EA-3EB03CB8B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67044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ChronicleVTI</vt:lpstr>
      <vt:lpstr>Portal "A Fenda" - Sistema de Interação Acadêmica e Spotted. </vt:lpstr>
      <vt:lpstr>A proposta ( ou o famoso porquê):</vt:lpstr>
      <vt:lpstr>Diferenciais Técnicos:</vt:lpstr>
      <vt:lpstr>Stack Tecnológica e Arquitetura</vt:lpstr>
      <vt:lpstr>Página de  nOVa POSTagem MOBILE X DESKTOP</vt:lpstr>
      <vt:lpstr>ACHADOS E PERDIDOS</vt:lpstr>
      <vt:lpstr>Funcionalidades em Destaque (Achados e Perdidos):</vt:lpstr>
      <vt:lpstr>Achados e perdidos MOBILE X DESKTOP</vt:lpstr>
      <vt:lpstr>Conclusão e Evolução</vt:lpstr>
      <vt:lpstr>Visão de Futuro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557</cp:revision>
  <dcterms:created xsi:type="dcterms:W3CDTF">2026-03-26T19:00:54Z</dcterms:created>
  <dcterms:modified xsi:type="dcterms:W3CDTF">2026-04-13T21:40:59Z</dcterms:modified>
</cp:coreProperties>
</file>